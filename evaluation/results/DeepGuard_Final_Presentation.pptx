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977639"/>
            <a:ext cx="12188952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C5FD"/>
                </a:solidFill>
              </a:rPr>
              <a:t>IS596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Deep-Guard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3C5FD"/>
                </a:solidFill>
              </a:rPr>
              <a:t>Real-Time Audio-Visual Deepfake Detection
with Forensic Legal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256032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70/100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68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SUS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4663440"/>
            <a:ext cx="256032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468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663440"/>
            <a:ext cx="256032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+30pp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468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4663440"/>
            <a:ext cx="256032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N=10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54681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User Study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Deepfake Detection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ORIGINALITY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44168"/>
            <a:ext cx="3703320" cy="4206240"/>
          </a:xfrm>
          <a:prstGeom prst="rect">
            <a:avLst/>
          </a:prstGeom>
          <a:solidFill>
            <a:srgbClr val="F1F5F9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📈  Explosive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</a:rPr>
              <a:t>Deepfake incidents up 3,000% since 2019.
96% of deepfakes target individuals
non-consensually (Sensity AI, 2023).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234440"/>
            <a:ext cx="37033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344168"/>
            <a:ext cx="3703320" cy="4206240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⚖️  Legal 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</a:rPr>
              <a:t>EU AI Act Art.50 (Aug 2026) &amp; Take It
Down Act 2025 now require verifiable
forensic evidence of synthetic media.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234440"/>
            <a:ext cx="370332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1344168"/>
            <a:ext cx="3703320" cy="4206240"/>
          </a:xfrm>
          <a:prstGeom prst="rect">
            <a:avLst/>
          </a:prstGeom>
          <a:solidFill>
            <a:srgbClr val="F1F5F9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🔍  Detection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1488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</a:rPr>
              <a:t>Existing tools are single-modality and
black-box — no tool combines AV detection
with legally admissible documentation.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760720"/>
            <a:ext cx="11384280" cy="8412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70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Deep-Guard Agent fills all three gaps: bimodal AV detection + explainable AI + ISO/IEC 27037-compliant legal reporting — in a single open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— 6-Module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ORIGINALITY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3200400" cy="1600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0817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① Video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3852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MP4 / AVI / 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1851660"/>
            <a:ext cx="283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200400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0817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② Visual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3852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MediaPipe FaceLandmarker
256-d lip feature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1851660"/>
            <a:ext cx="283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280160"/>
            <a:ext cx="320040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40817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③ Audio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193852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Wav2Vec2-base-960h
768-d @ 50 fps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320040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60273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④ Cross-Modal 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13308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Temporal Transformer
+ cosine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4046220"/>
            <a:ext cx="283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474720"/>
            <a:ext cx="320040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60273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⑤ LLM Reasoner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13308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LLaMA 3.3 70B (Groq)
chain-of-thought +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4046220"/>
            <a:ext cx="283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3474720"/>
            <a:ext cx="3200400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3602736"/>
            <a:ext cx="27980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⑥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4133088"/>
            <a:ext cx="2798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HTML Report · Legal Report
Annotated Video ·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2953512"/>
            <a:ext cx="914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953512"/>
            <a:ext cx="914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9144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30368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9437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293B"/>
                </a:solidFill>
              </a:rPr>
              <a:t>Fusion:  score = 0.7 × learned_discrepancy  +  0.3 × cosine_discrepancy     |     Frame flagged if score ≥ 0.65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THEORETICAL GROUNDING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321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32120" cy="2240280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AV-HuBERT  (Shi et al.,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Self-supervised audio-visual speech learning.
Inspired our cross-modal alignment architecture
and temporal synchrony objective.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80160"/>
            <a:ext cx="55321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532120" cy="2240280"/>
          </a:xfrm>
          <a:prstGeom prst="rect">
            <a:avLst/>
          </a:prstGeom>
          <a:solidFill>
            <a:srgbClr val="F1F5F9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</a:rPr>
              <a:t>Wav2Vec 2.0  (Baevski et al., 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Contrastive pre-training on raw waveforms.
Extracts articulatory features grounded in
vocal tract physics at 50 fps resolution.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5321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532120" cy="2240280"/>
          </a:xfrm>
          <a:prstGeom prst="rect">
            <a:avLst/>
          </a:prstGeom>
          <a:solidFill>
            <a:srgbClr val="F1F5F9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</a:rPr>
              <a:t>ART-AVDF  (Wang &amp; Huang,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177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Direct precedent: articulatory representations
for audio-visual deepfake detection — our
primary methodological reference.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840480"/>
            <a:ext cx="55321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931920"/>
            <a:ext cx="5532120" cy="2240280"/>
          </a:xfrm>
          <a:prstGeom prst="rect">
            <a:avLst/>
          </a:prstGeom>
          <a:solidFill>
            <a:srgbClr val="F1F5F9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416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</a:rPr>
              <a:t>Daubert Standard  &amp;  ISO/IEC 27037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177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Legal admissibility framework for scientific
evidence. Requires testability, error rates,
and documented chain of custody.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33856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532D"/>
                </a:solidFill>
              </a:rPr>
              <a:t>Key physical insight: Bilabial phonemes (B, P, M) require lip closure — deepfakes violate this constraint, creating measurable audio-visual discrepancies.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ROBUSTNESS &amp;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59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Visual Encoder: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745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MediaPipe FaceLandmarker  →  256-d lip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8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Audio Encoder: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41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Wav2Vec2-base-960h  ·  768-d @ 50fps via ffmpeg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0837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Fusion Module: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083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AudioVisualProjector + 2-layer TemporalAttention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66743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75303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LLM Reasoning: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57530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LLaMA 3.3 70B (Groq API)  ·  JSON-structured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33671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42231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Video Overlay: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422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OpenCV annotation  ·  O(1) set-lookup for flags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HTML Report: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709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Pure Python SVG charts  ·  html.escape() XSS guard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67528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760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Legal Report: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760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9 sections  ·  SHA-256 chain of custody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34456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430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Interface: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843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Gradio 4.x  ·  thread-safe  ·  UUID output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234440"/>
            <a:ext cx="5532120" cy="5349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32588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Key Engineering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1874519"/>
            <a:ext cx="10972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1911095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🔒 Thread Safety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313431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Double-checked locking ensures
only one pipeline init under
concurrent Gradio requests.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035808"/>
            <a:ext cx="10972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30723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⚡ O(1) Frame Lookup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Pre-computed set() for flagged
frames — avoids O(n) list scan
per video frame in render loop.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197096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42336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🛡️ XSS Prevention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6360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All LLM-generated content passed
through html.escape() before
HTML injection.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5358383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5394959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📊 Pure SVG Charts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5797295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 JavaScript — Gradio strips
&lt;script&gt; tags. All charts are
server-side Python SVG.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Legal Forensic Report — Novel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ROBUSTNESS &amp;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① Case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28016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2801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276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② Forensic 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28016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93024" y="12801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6276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③ Methodology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517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992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④ Quantitative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651760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6517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9992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⑤ Discrepancy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651760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26517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9992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⑥ Flagged Frames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0972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0233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3708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⑦ Evidence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4023360"/>
            <a:ext cx="10972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9976" y="40233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3708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⑧ Chain of Custody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4023360"/>
            <a:ext cx="10972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4" y="4023360"/>
            <a:ext cx="3502152" cy="1188720"/>
          </a:xfrm>
          <a:prstGeom prst="rect">
            <a:avLst/>
          </a:prstGeom>
          <a:solidFill>
            <a:srgbClr val="F1F5F9"/>
          </a:solidFill>
          <a:ln w="1524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437083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⑨ Limitations &amp; Disclaimer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33856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</a:rPr>
              <a:t>Referenced Legal Frameworks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16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EU AI Act Art.50   ·   Take It Down Act 2025   ·   NIST SP 800-86   ·   ISO/IEC 27037:2012   ·   NIST OpenMFC   ·   Daubert Standard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EVALUATION &amp;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5349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Study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Participants: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87451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N = 10 university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23744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Backgrounds: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237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5 technical (CS/IS)  ·  5 non-technical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Design: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1729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Within-subjects, single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1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Duration: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822191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~60 minutes per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Stimuli: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47141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3 videos: Authentic · Likely Fake · Suspicious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Instruments: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120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SUS · Likert (1-7) · Semi-structured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9864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Baseline: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7698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Unaided detection before system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234440"/>
            <a:ext cx="5760720" cy="5349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3533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60-Minute Session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947671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1965959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</a:rPr>
              <a:t>00:00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874519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Welcome &amp; Consent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1874519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532888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551176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</a:rPr>
              <a:t>00:08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459736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Pre-Questionnaire +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245973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118104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136392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00:15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044952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Task 1 — Authentic 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304495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703320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72160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00:23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363016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Task 2 — Likely Fake Video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363016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288535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4306823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00:31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215383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Task 3 — Suspicious Video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4215383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873752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489204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00:39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4800600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Post-Task SUS Questionnaire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480060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5458968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5477256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00:47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22592" y="5385816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Semi-Structured Interview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538581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10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6044184"/>
            <a:ext cx="749808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0488" y="6062472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</a:rPr>
              <a:t>00:57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5971032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Debrief &amp; Close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597103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System Usability Scale (SUS)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EVALUATION &amp;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7432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70.0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Mean SUS /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34440"/>
            <a:ext cx="27432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Above 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Overall Grade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27432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5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Scored ≥ 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234440"/>
            <a:ext cx="274320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</a:rPr>
              <a:t>83.8 vs 61.3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CS vs Non-tech</a:t>
            </a:r>
          </a:p>
        </p:txBody>
      </p:sp>
      <p:pic>
        <p:nvPicPr>
          <p:cNvPr id="17" name="Picture 16" descr="fig1_sus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11292840" cy="4251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Accuracy &amp; Likert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EVALUATION &amp; FINDINGS</a:t>
            </a:r>
          </a:p>
        </p:txBody>
      </p:sp>
      <p:pic>
        <p:nvPicPr>
          <p:cNvPr id="5" name="Picture 4" descr="fig3_agreement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943600" cy="3749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234440"/>
            <a:ext cx="516636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5331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Custom Likert Scales  (1–7)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Report Comprehension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313432"/>
            <a:ext cx="44805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2313432"/>
            <a:ext cx="2669133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9960" y="2258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B82F6"/>
                </a:solidFill>
              </a:rPr>
              <a:t>4.17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334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Legal Report Useful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26664"/>
            <a:ext cx="44805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3026664"/>
            <a:ext cx="2944368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09960" y="2971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2C55E"/>
                </a:solidFill>
              </a:rPr>
              <a:t>4.60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46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Trust in AI 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739896"/>
            <a:ext cx="44805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739896"/>
            <a:ext cx="3021177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09960" y="36850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</a:rPr>
              <a:t>4.72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5993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Overall Satisfaction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453127"/>
            <a:ext cx="448056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4453127"/>
            <a:ext cx="2976372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439826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4444"/>
                </a:solidFill>
              </a:rPr>
              <a:t>4.65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66360"/>
            <a:ext cx="1129284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55%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Unaided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5257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58338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5257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58338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System-Assisted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5257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+30pp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8624" y="58338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52578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3C5FD"/>
                </a:solidFill>
              </a:rPr>
              <a:t>0.97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58338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Spearman ρ (AI Familiarity ↔ SUS)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Qualitative Themes &amp;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EVALUATION &amp; FINDINGS</a:t>
            </a:r>
          </a:p>
        </p:txBody>
      </p:sp>
      <p:pic>
        <p:nvPicPr>
          <p:cNvPr id="5" name="Picture 4" descr="fig5_interview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217920" cy="3840480"/>
          </a:xfrm>
          <a:prstGeom prst="rect">
            <a:avLst/>
          </a:prstGeom>
        </p:spPr>
      </p:pic>
      <p:pic>
        <p:nvPicPr>
          <p:cNvPr id="6" name="Picture 5" descr="fig6_sus_vs_famili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34440"/>
            <a:ext cx="489204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257800"/>
            <a:ext cx="11292840" cy="1353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76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✅  Clear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70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376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✅  Legal Report 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870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</a:rPr>
              <a:t>7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376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⚠️  Confusing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870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</a:rPr>
              <a:t>6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376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⚠️  Processing Too Slow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870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</a:rPr>
              <a:t>4 /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DISCUSSION &amp;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576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3657600" cy="5120640"/>
          </a:xfrm>
          <a:prstGeom prst="rect">
            <a:avLst/>
          </a:prstGeom>
          <a:solidFill>
            <a:srgbClr val="F1F5F9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</a:rPr>
              <a:t>✅  What Worked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8229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AV bimodal detection catches
mismatches single-modality misses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246120"/>
            <a:ext cx="8229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089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LLM reasoning gives grounded,
explainable verdicts (not just a score)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25112"/>
            <a:ext cx="8229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Legal Report fills a real gap —
valued by law/journalism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404104"/>
            <a:ext cx="8229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6694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SUS 70/100 confirms usability
for majority of participants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1234440"/>
            <a:ext cx="36576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344168"/>
            <a:ext cx="3657600" cy="5120640"/>
          </a:xfrm>
          <a:prstGeom prst="rect">
            <a:avLst/>
          </a:prstGeom>
          <a:solidFill>
            <a:srgbClr val="F1F5F9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44475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F4444"/>
                </a:solidFill>
              </a:rPr>
              <a:t>⚠️ 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2167128"/>
            <a:ext cx="8229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02996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 trained checkpoint — random
init means uncalibrated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0288" y="3246120"/>
            <a:ext cx="8229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31089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Non-technical users face vocab
barrier (6/10 flagged in interviews)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4325112"/>
            <a:ext cx="8229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~5 min processing limits real-time
moderation use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5404104"/>
            <a:ext cx="8229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526694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N=10 is sufficient for formative
study but not definitive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5" y="1234440"/>
            <a:ext cx="36576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1344168"/>
            <a:ext cx="3657600" cy="5120640"/>
          </a:xfrm>
          <a:prstGeom prst="rect">
            <a:avLst/>
          </a:prstGeom>
          <a:solidFill>
            <a:srgbClr val="F1F5F9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5" y="144475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🔭  Future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4775" y="2167128"/>
            <a:ext cx="82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7655" y="2029968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Train on FaceForensics++ / DFDC
for calibrated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94775" y="3246120"/>
            <a:ext cx="82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7655" y="310896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Add inline tooltips / glossary
for non-expert users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94775" y="4325112"/>
            <a:ext cx="82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5" y="41879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Explore streaming inference for
live deepfake detection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94775" y="5404104"/>
            <a:ext cx="82296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5" y="526694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Jurisdiction-specific legal
report templates (EU / US / CN)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91672" y="6510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4206240"/>
            <a:ext cx="12188952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3C5FD"/>
                </a:solidFill>
              </a:rPr>
              <a:t>Deep-Guard Agent  — 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14173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2624328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Originality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First tool combining AV detection + LLM reasoning + ISO legal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91840"/>
            <a:ext cx="14173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3401568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Theory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3832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Grounded in Wav2Vec2, AV-HuBERT, ART-AVDF — physical acoustics as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69080"/>
            <a:ext cx="14173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4178808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605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6-module pipeline: thread-safe, XSS-protected, UUID outputs, SVG charts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46320"/>
            <a:ext cx="14173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" y="4956048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9377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SUS 70/100 · +30pp accuracy · N=10 user study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4173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5733288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Reflection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7150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Vocabulary gap &amp; processing speed are the next key improvement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IS596  ·  Deep-Guard Agent v2.0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